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Merriweather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561A26-C905-4D17-8B8D-BE5AE7290619}">
  <a:tblStyle styleId="{CC561A26-C905-4D17-8B8D-BE5AE72906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1562311-71E0-4CD9-9839-B9AB0AC8FC8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22" Type="http://schemas.openxmlformats.org/officeDocument/2006/relationships/font" Target="fonts/Merriweather-boldItalic.fntdata"/><Relationship Id="rId21" Type="http://schemas.openxmlformats.org/officeDocument/2006/relationships/font" Target="fonts/Merriweather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erriweath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8cc0598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a8cc0598b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8cc0598b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a8cc0598bd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2.png"/><Relationship Id="rId5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11.png"/><Relationship Id="rId9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24.png"/><Relationship Id="rId8" Type="http://schemas.openxmlformats.org/officeDocument/2006/relationships/image" Target="../media/image3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18.png"/><Relationship Id="rId15" Type="http://schemas.openxmlformats.org/officeDocument/2006/relationships/image" Target="../media/image19.png"/><Relationship Id="rId14" Type="http://schemas.openxmlformats.org/officeDocument/2006/relationships/image" Target="../media/image12.png"/><Relationship Id="rId16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32.png"/><Relationship Id="rId5" Type="http://schemas.openxmlformats.org/officeDocument/2006/relationships/image" Target="../media/image31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hyperlink" Target="https://github.com/Xsebet12/Fintech" TargetMode="External"/><Relationship Id="rId5" Type="http://schemas.openxmlformats.org/officeDocument/2006/relationships/image" Target="../media/image30.png"/><Relationship Id="rId6" Type="http://schemas.openxmlformats.org/officeDocument/2006/relationships/image" Target="../media/image35.png"/><Relationship Id="rId7" Type="http://schemas.openxmlformats.org/officeDocument/2006/relationships/image" Target="../media/image29.png"/><Relationship Id="rId8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73355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Sistema de Auditoría para una Fintech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60045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Evaluación Parcial N°2 - Gestión de Datos para IA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629150"/>
            <a:ext cx="11049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Integrantes: Sebastian Cornejo, Jaime Alvarez, Lucas Fuentes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Profesor: Hector Andres Morel Briones | Duoc UC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75644"/>
            <a:ext cx="5381625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775644"/>
            <a:ext cx="5381625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37046" y="3847582"/>
            <a:ext cx="505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Necesidad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57213" y="4284044"/>
            <a:ext cx="4810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 necesidad es sistema de </a:t>
            </a:r>
            <a:r>
              <a:rPr lang="en-US" sz="13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auditoría</a:t>
            </a:r>
            <a:r>
              <a:rPr lang="en-US" sz="13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sin márgenes de error ni alteraciones físicas de los datos, trazabilidad de manera </a:t>
            </a:r>
            <a:r>
              <a:rPr lang="en-US" sz="13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regulada</a:t>
            </a: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y sin vulnerabilidades 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404371" y="3837682"/>
            <a:ext cx="505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Solución 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524588" y="4284044"/>
            <a:ext cx="4810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Implementación lógica de inmutabilidad que permite reconstruir cualquier estado histórico de una transacción</a:t>
            </a:r>
            <a:r>
              <a:rPr lang="en-US" sz="13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a traves de log y metadatos dejar un registro hasta llegar la solucion de un KPIs.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90862" y="3118544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01087" y="311854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9508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Valor Estratégico del Proyecto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950862"/>
            <a:ext cx="76200" cy="571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8985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2780407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Descripción de la Solución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3294757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Implementación de una arquitectura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Medallion (Bronze → Silver → Gold)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que prioriza la integridad y el cumplimiento normativo.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95350" y="398055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52500" y="3980557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Delta Lake: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Transacciones ACID y control de versiones ("Time Travel").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95350" y="449490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52500" y="4494907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Inmutabilidad: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Registros históricos inalterables para auditorías exactas.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95350" y="500925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5009257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Escalabilidad: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Separación de cómputo y almacenamiento para altos volúmenes.</a:t>
            </a:r>
            <a:endParaRPr/>
          </a:p>
        </p:txBody>
      </p:sp>
      <p:pic>
        <p:nvPicPr>
          <p:cNvPr id="117" name="Google Shape;117;p15" title="descarga.jpg"/>
          <p:cNvPicPr preferRelativeResize="0"/>
          <p:nvPr/>
        </p:nvPicPr>
        <p:blipFill rotWithShape="1">
          <a:blip r:embed="rId5">
            <a:alphaModFix/>
          </a:blip>
          <a:srcRect b="0" l="3773" r="3763" t="0"/>
          <a:stretch/>
        </p:blipFill>
        <p:spPr>
          <a:xfrm>
            <a:off x="6343650" y="219938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9508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Arquitectura Lakehouse y ACID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950862"/>
            <a:ext cx="76200" cy="571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7057"/>
            <a:ext cx="3492549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47057"/>
            <a:ext cx="3492549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47057"/>
            <a:ext cx="3492549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84223" y="3799582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Requisitos Estáticos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57250" y="4313932"/>
            <a:ext cx="29210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Reglas estrictas definidas desde el inicio que no varían durante el ciclo de vida.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562523" y="3799582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Validación Rigurosa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635549" y="4313932"/>
            <a:ext cx="29210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Asegura que cada fase de seguridad se valide antes de avanzar a la ingeniería de datos.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340822" y="3799582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Eficiencia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413849" y="4313932"/>
            <a:ext cx="29210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Previene sobrecarga de planificación iterativa en un contexto de entregables fijos.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98995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98995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8549" y="298995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62000" y="9508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Metodología PMBOK: Cascada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950862"/>
            <a:ext cx="76200" cy="571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/>
        </p:nvSpPr>
        <p:spPr>
          <a:xfrm>
            <a:off x="762000" y="9508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WBS y Carta Gantt (Hitos)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71500" y="950862"/>
            <a:ext cx="76200" cy="571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p17"/>
          <p:cNvGraphicFramePr/>
          <p:nvPr/>
        </p:nvGraphicFramePr>
        <p:xfrm>
          <a:off x="1679450" y="158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{CC561A26-C905-4D17-8B8D-BE5AE7290619}</a:tableStyleId>
              </a:tblPr>
              <a:tblGrid>
                <a:gridCol w="973850"/>
                <a:gridCol w="2976350"/>
                <a:gridCol w="1207000"/>
                <a:gridCol w="1385300"/>
                <a:gridCol w="1440175"/>
                <a:gridCol w="850425"/>
              </a:tblGrid>
              <a:tr h="262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Fase (id)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Elemento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Tipo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Fecha Inicio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Fecha Término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Nivel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</a:tr>
              <a:tr h="29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Sistema de Auditoría Fintech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WBS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10-abr-2026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0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</a:tr>
              <a:tr h="234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Gestión del Proyecto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WBS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10-abr-2026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13-abr-2026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85C6"/>
                    </a:solidFill>
                  </a:tcPr>
                </a:tc>
              </a:tr>
              <a:tr h="29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1-1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Informe de encargo (Evaluación Parcial 1)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Entregable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10-abr-2026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13-abr-2026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9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1-1-1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README.md inicial del repositorio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Entregable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10-abr-2026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14-abr-2026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3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9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1-2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C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Hito 1: Plan de Trabajo Aprobado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C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Hito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C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C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C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CBA"/>
                    </a:solidFill>
                  </a:tcPr>
                </a:tc>
              </a:tr>
              <a:tr h="29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69A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Diseño de Arquitectura Lakehouse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69A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WBS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69A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22-may-2026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69A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25-may-2026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69A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1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69AD7"/>
                    </a:solidFill>
                  </a:tcPr>
                </a:tc>
              </a:tr>
              <a:tr h="29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2-1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Diseño de Capa Bronze (Ingesta Cruda e Inmutable)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Entregable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22-may-2026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22-may-2026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9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2-2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Diseño de Capa Silver (Limpieza y Estandarización)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Entregable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22-may-2026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22-may-2026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431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2-3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Diseño de Capa Gold (Curación y Reglas de Negocio)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Entregable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22-may-2026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22-may-2026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9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2-4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Documento de diseño técnico y Capas Medallion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Entregable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27-may-2026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27-may-2026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9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2-5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Hito 2: Arquitectura y Cumplimiento Aprobado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Hito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85C6"/>
                    </a:solidFill>
                  </a:tcPr>
                </a:tc>
              </a:tr>
              <a:tr h="29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Ingeniería e Implementación de Datos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WBS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1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</a:tr>
              <a:tr h="29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3-1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Configuración de entorno Delta Lake (ACID)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Entregable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9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3-2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Script de Ingesta y almacenamiento Bronze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Entregable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9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3-3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Script de transformación y validación Silver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Entregable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9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3-4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Carga de datos curados en Capa Gold para IA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Entregable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26-may-2026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27-may-2026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/>
        </p:nvSpPr>
        <p:spPr>
          <a:xfrm>
            <a:off x="762000" y="950862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WBS y Carta Gantt (Hitos)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571500" y="950862"/>
            <a:ext cx="76200" cy="571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18"/>
          <p:cNvGraphicFramePr/>
          <p:nvPr/>
        </p:nvGraphicFramePr>
        <p:xfrm>
          <a:off x="952500" y="24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{CC561A26-C905-4D17-8B8D-BE5AE7290619}</a:tableStyleId>
              </a:tblPr>
              <a:tblGrid>
                <a:gridCol w="1714500"/>
                <a:gridCol w="1714500"/>
                <a:gridCol w="1714500"/>
                <a:gridCol w="1714500"/>
                <a:gridCol w="1714500"/>
                <a:gridCol w="171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3-5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Hito 3: Capa Inmutable Operacional (Staging)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Hito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9A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Servicio y Entrega de Reportes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9A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WBS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9A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9A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9A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9AD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4-1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README.md actualizado final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Entregable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4-2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Informe de Auditoría y Documento Consolidado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Entregable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4-3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Hito 4: Entrega final completa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Hito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2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8999"/>
            <a:ext cx="3492550" cy="441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800" y="1578999"/>
            <a:ext cx="3492550" cy="441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100" y="1522349"/>
            <a:ext cx="3492550" cy="446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494657"/>
            <a:ext cx="29019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494657"/>
            <a:ext cx="29019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494657"/>
            <a:ext cx="2901999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794225" y="4475857"/>
            <a:ext cx="304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Ingesta Bronze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66775" y="4961632"/>
            <a:ext cx="29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Cálculo de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record_hash</a:t>
            </a:r>
            <a:r>
              <a:rPr b="0" i="0" lang="en-US" sz="10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SHA256 por fila para garantizar procedencia e inmutabilidad total.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4572524" y="4475857"/>
            <a:ext cx="304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Silver &amp; QA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4645074" y="4961632"/>
            <a:ext cx="29019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Validación de cadena de hashes criptográficos y consistencia de saldos operativos.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8350824" y="4475857"/>
            <a:ext cx="304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Carga Fail-Safe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423374" y="4961632"/>
            <a:ext cx="29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Persistencia en PostgreSQL mediante Docker con redundancia local automática ante fallos.</a:t>
            </a:r>
            <a:endParaRPr/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6300" y="1822160"/>
            <a:ext cx="2882950" cy="2377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54600" y="1822147"/>
            <a:ext cx="2882950" cy="237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32900" y="1822147"/>
            <a:ext cx="2882950" cy="237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762000" y="9508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Pipeline: Bronze, Silver y Gold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950862"/>
            <a:ext cx="76200" cy="571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76300" y="1822150"/>
            <a:ext cx="2902000" cy="237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645075" y="1877775"/>
            <a:ext cx="2861825" cy="188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629900" y="3761100"/>
            <a:ext cx="2882950" cy="4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432900" y="1822150"/>
            <a:ext cx="2901900" cy="237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/>
          <p:nvPr/>
        </p:nvSpPr>
        <p:spPr>
          <a:xfrm>
            <a:off x="571500" y="3799582"/>
            <a:ext cx="1743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315319" y="3799582"/>
            <a:ext cx="3886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6201667" y="3799582"/>
            <a:ext cx="5418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71500" y="4352032"/>
            <a:ext cx="1743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315319" y="4352032"/>
            <a:ext cx="3886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201667" y="4352032"/>
            <a:ext cx="5418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71500" y="4904482"/>
            <a:ext cx="1743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2315319" y="4904482"/>
            <a:ext cx="3886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6201667" y="4904482"/>
            <a:ext cx="5418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71500" y="5456932"/>
            <a:ext cx="1743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2315319" y="5456932"/>
            <a:ext cx="3886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6201667" y="5456932"/>
            <a:ext cx="5418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762000" y="950862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Estrategia de KPIs de Monitoreo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71500" y="950862"/>
            <a:ext cx="76200" cy="571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0263" y="1847563"/>
            <a:ext cx="8291474" cy="424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4" name="Google Shape;204;p21"/>
          <p:cNvGraphicFramePr/>
          <p:nvPr/>
        </p:nvGraphicFramePr>
        <p:xfrm>
          <a:off x="571500" y="27184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{91562311-71E0-4CD9-9839-B9AB0AC8FC87}</a:tableStyleId>
              </a:tblPr>
              <a:tblGrid>
                <a:gridCol w="1743825"/>
                <a:gridCol w="3886350"/>
                <a:gridCol w="5418825"/>
              </a:tblGrid>
              <a:tr h="5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Grupo KPI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Indicador Clave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Propósito de Auditoría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Globales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 registros / Tasa validez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Eficiencia del motor de reglas semánticas.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Negocio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Monto total / Saldo promedio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Detección de anomalías en balances financieros.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Trazabilidad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Record_hash / Prev_record_hash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Gobernanza sobre la inmutabilidad de la cadena.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Operación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JSON / Logs históricos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Reproducibilidad de la carga síncrona en Docker.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21"/>
          <p:cNvSpPr/>
          <p:nvPr/>
        </p:nvSpPr>
        <p:spPr>
          <a:xfrm>
            <a:off x="571500" y="3799582"/>
            <a:ext cx="174381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2315319" y="3799582"/>
            <a:ext cx="388634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6201667" y="3799582"/>
            <a:ext cx="541883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71500" y="4352032"/>
            <a:ext cx="174381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2315319" y="4352032"/>
            <a:ext cx="388634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6201667" y="4352032"/>
            <a:ext cx="541883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71500" y="4904482"/>
            <a:ext cx="174381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2315319" y="4904482"/>
            <a:ext cx="388634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6201667" y="4904482"/>
            <a:ext cx="541883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71500" y="5456932"/>
            <a:ext cx="174381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2315319" y="5456932"/>
            <a:ext cx="388634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6201667" y="5456932"/>
            <a:ext cx="541883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762000" y="9508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Estrategia de KPIs de Monitoreo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71500" y="950862"/>
            <a:ext cx="76200" cy="571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8985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571500" y="2923282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Plan DataOps Security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952500" y="3418582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Cifrado: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TLS/SSL en tránsito y enmascaramiento mínimo en logs operativos.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952500" y="4123432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Leyes: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Alineado a Ley 19.628 (Protección vida privada) en Chile.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952500" y="4828282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Docker: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Aislamiento de entornos y gestión dinámica de secretos vía .env.</a:t>
            </a:r>
            <a:endParaRPr/>
          </a:p>
        </p:txBody>
      </p:sp>
      <p:pic>
        <p:nvPicPr>
          <p:cNvPr descr="image.png" id="229" name="Google Shape;22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99382"/>
            <a:ext cx="526732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5668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6153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6638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762000" y="9508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Seguridad y Cumplimiento Legal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71500" y="950862"/>
            <a:ext cx="76200" cy="571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43650" y="2278775"/>
            <a:ext cx="5286375" cy="38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571500" y="5004494"/>
            <a:ext cx="11049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 proyecto cumple con el procesamiento financiero auditable, garantizando trazabilidad criptográfica y estabilidad resiliente en entornos DataOps.</a:t>
            </a:r>
            <a:r>
              <a:rPr b="0" i="1" lang="en-US" sz="1350" u="sng" cap="none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GitHub Fintech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71500" y="4813994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1333500" y="2642294"/>
            <a:ext cx="10287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Modelado Gráfico: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Completar el diagrama de arquitectura de datos Bronze/Silver/Gold.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1333500" y="3089969"/>
            <a:ext cx="10287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Refinamiento de KPIs: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Implementar cálculos vectorizados por tipo de transacción (Credit/Debit).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1333500" y="3537644"/>
            <a:ext cx="10287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Auditoría Continua: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Mantener logs y metadatos de linaje como evidencia técnica central.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1333500" y="3985319"/>
            <a:ext cx="10287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Escalabilidad: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Migración de lógica a motores distribuidos para manejo de Big Data.</a:t>
            </a:r>
            <a:endParaRPr/>
          </a:p>
        </p:txBody>
      </p:sp>
      <p:pic>
        <p:nvPicPr>
          <p:cNvPr descr="image.png" id="247" name="Google Shape;24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680394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12806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357574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4023419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762000" y="9508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Próximos Pasos y Cierre</a:t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571500" y="950862"/>
            <a:ext cx="76200" cy="571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 txBox="1"/>
          <p:nvPr/>
        </p:nvSpPr>
        <p:spPr>
          <a:xfrm>
            <a:off x="295275" y="2081212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¿Preguntas?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571500" y="3961358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Gracias por su atención.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571500" y="5009108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Integrantes: Sebastian Cornejo, Jaime Alvarez, Lucas Fuentes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Gestión De Datos Para IA | Mayo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